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ffc9f881-8d0e-7f48-ce39-40a8903d3da5}">
          <p14:sldIdLst>
            <p14:sldId id="256"/>
          </p14:sldIdLst>
        </p14:section>
        <p14:section name="Actividades del reto" id="{be4f8a41-149b-b84d-1618-dea09be9b9f4}">
          <p14:sldIdLst>
            <p14:sldId id="257"/>
            <p14:sldId id="258"/>
            <p14:sldId id="259"/>
          </p14:sldIdLst>
        </p14:section>
        <p14:section name="Proceso de búsqueda de empleo" id="{e55e7687-95a8-9097-3d00-6aff1ee0e8a4}">
          <p14:sldIdLst>
            <p14:sldId id="260"/>
            <p14:sldId id="261"/>
            <p14:sldId id="262"/>
            <p14:sldId id="263"/>
            <p14:sldId id="264"/>
          </p14:sldIdLst>
        </p14:section>
        <p14:section name="Cierre" id="{1fd368fd-511f-c4e7-bce6-7dfacc9be5ea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personal: soy Albert, estudio el ciclo superior de Desarrollo de Aplicaciones Multiplataforma en Granada. Esta es mi hoja de ruta para entrar al mercado laboral como desarrollador de software junior.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Elijo el puesto de desarrollador de software junior. Es lo más cercano a lo que estudio y a lo que ya he practicado en proyectos del ciclo con Java, Spring Boot y JavaScript.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Ficha del puesto elaborada a partir de ofertas similares publicadas en la red (LinkedIn, InfoJobs, Tecnoempleo). Conviene contrastar estos datos con 3 o 4 ofertas reales antes de 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profesiograma agrupa lo que pide el puesto en tres bloques: saber (conocimientos), saber hacer (habilidades) y saber ser (actitudes). Mi base técnica es buena; lo que me falta es experiencia en una empresa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1: autoconocimiento. Mis fortalezas son la capacidad de aprender y los proyectos con Java y Spring Boot. Mi debilidad principal es no tener experiencia laboral; por eso las prácticas y el portfolio son clave.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2: plan de acción. Combino portales de empleo, prácticas, contactos y servicios públicos. Me marco una meta semanal medible (puedes ajustar el número a tu ritmo real).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3: CV y carta. El CV cabe en una página y enlaza a GitHub. La carta se adapta a cada oferta. Como no tengo experiencia laboral, destaco mis proyectos: Consorcio de Autobuses (proyecto final) y Liberium (TFG en equipo).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4: pruebas y entrevistas. Tres momentos típicos: psicotécnicos, prueba técnica y entrevista. Para la entrevista uso el método STAR con ejemplos de mis proyectos.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final: cuando llegue una oferta reviso las condiciones y negocio con datos. El calendario es relativo: ahora preparo CV y portfolio; antes de acabar el ciclo envío candidaturas; al titular entro en procesos de selección; después sigo formándome.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ya tengo la base técnica y proyectos reales. Mi plan es construir el portfolio, enviar candidaturas y practicar entrevistas.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Albert Schmalbach · Hoja de ruta laboral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47548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94560"/>
            <a:ext cx="47548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Mi hoja de ruta laboral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945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Desarrollador de software junior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Albert Schmalbach Peña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Técnico Superior en Desarrollo de Aplicaciones Multiplataforma · Granada</a:t>
            </a:r>
            <a:endParaRPr lang="en-US" sz="1600" dirty="0"/>
          </a:p>
        </p:txBody>
      </p:sp>
      <p:sp>
        <p:nvSpPr>
          <p:cNvPr id="4" name="tarjeta-1"/>
          <p:cNvSpPr/>
          <p:nvPr/>
        </p:nvSpPr>
        <p:spPr>
          <a:xfrm>
            <a:off x="5669280" y="914400"/>
            <a:ext cx="3017520" cy="301752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/>
        </p:spPr>
      </p:sp>
      <p:sp>
        <p:nvSpPr>
          <p:cNvPr id="5" name="punto-2"/>
          <p:cNvSpPr/>
          <p:nvPr/>
        </p:nvSpPr>
        <p:spPr>
          <a:xfrm>
            <a:off x="5897880" y="1115568"/>
            <a:ext cx="128016" cy="12801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punto-3"/>
          <p:cNvSpPr/>
          <p:nvPr/>
        </p:nvSpPr>
        <p:spPr>
          <a:xfrm>
            <a:off x="6135624" y="111556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unto-4"/>
          <p:cNvSpPr/>
          <p:nvPr/>
        </p:nvSpPr>
        <p:spPr>
          <a:xfrm>
            <a:off x="6373368" y="1115568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o-5"/>
          <p:cNvSpPr txBox="1"/>
          <p:nvPr/>
        </p:nvSpPr>
        <p:spPr>
          <a:xfrm>
            <a:off x="5897880" y="150876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albert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ciclo: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"DAM"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 junior"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java: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spring: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git: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Desarrollador de software</a:t>
            </a:r>
            <a:endParaRPr lang="en-US" sz="3600" dirty="0"/>
          </a:p>
        </p:txBody>
      </p:sp>
      <p:sp>
        <p:nvSpPr>
          <p:cNvPr id="3" name="etiqueta-fase-6"/>
          <p:cNvSpPr txBox="1"/>
          <p:nvPr/>
        </p:nvSpPr>
        <p:spPr>
          <a:xfrm>
            <a:off x="457200" y="274320"/>
            <a:ext cx="2587752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ACTIVIDAD A · PUESTO ELEGIDO</a:t>
            </a:r>
            <a:endParaRPr lang="en-US" sz="1000" dirty="0"/>
          </a:p>
        </p:txBody>
      </p:sp>
      <p:sp>
        <p:nvSpPr>
          <p:cNvPr id="4" name="tarjeta-7"/>
          <p:cNvSpPr/>
          <p:nvPr/>
        </p:nvSpPr>
        <p:spPr>
          <a:xfrm>
            <a:off x="457200" y="1371600"/>
            <a:ext cx="3017520" cy="3154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5" name="circulo-8"/>
          <p:cNvSpPr/>
          <p:nvPr/>
        </p:nvSpPr>
        <p:spPr>
          <a:xfrm>
            <a:off x="73152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o-9" descr="Icon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1821485"/>
            <a:ext cx="380390" cy="380390"/>
          </a:xfrm>
          <a:prstGeom prst="rect">
            <a:avLst/>
          </a:prstGeom>
        </p:spPr>
      </p:pic>
      <p:sp>
        <p:nvSpPr>
          <p:cNvPr id="7" name="texto-10"/>
          <p:cNvSpPr txBox="1"/>
          <p:nvPr/>
        </p:nvSpPr>
        <p:spPr>
          <a:xfrm>
            <a:off x="731520" y="256032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Desarrollador/a de software junior</a:t>
            </a:r>
            <a:endParaRPr lang="en-US" sz="2200" dirty="0"/>
          </a:p>
        </p:txBody>
      </p:sp>
      <p:sp>
        <p:nvSpPr>
          <p:cNvPr id="8" name="texto-11"/>
          <p:cNvSpPr txBox="1"/>
          <p:nvPr/>
        </p:nvSpPr>
        <p:spPr>
          <a:xfrm>
            <a:off x="731520" y="3749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Backend Java y web full-stack</a:t>
            </a:r>
            <a:endParaRPr lang="en-US" sz="1400" dirty="0"/>
          </a:p>
        </p:txBody>
      </p:sp>
      <p:sp>
        <p:nvSpPr>
          <p:cNvPr id="9" name="circulo-12"/>
          <p:cNvSpPr/>
          <p:nvPr/>
        </p:nvSpPr>
        <p:spPr>
          <a:xfrm>
            <a:off x="3840480" y="13716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o-13" descr="Icono decora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154" y="1503274"/>
            <a:ext cx="285293" cy="285293"/>
          </a:xfrm>
          <a:prstGeom prst="rect">
            <a:avLst/>
          </a:prstGeom>
        </p:spPr>
      </p:pic>
      <p:sp>
        <p:nvSpPr>
          <p:cNvPr id="11" name="texto-14"/>
          <p:cNvSpPr txBox="1"/>
          <p:nvPr/>
        </p:nvSpPr>
        <p:spPr>
          <a:xfrm>
            <a:off x="4572000" y="135331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Qué hace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Diseña, programa, prueba y mantiene aplicaciones para empresas y usuarios.</a:t>
            </a:r>
            <a:endParaRPr lang="en-US" sz="1600" dirty="0"/>
          </a:p>
        </p:txBody>
      </p:sp>
      <p:sp>
        <p:nvSpPr>
          <p:cNvPr id="12" name="circulo-15"/>
          <p:cNvSpPr/>
          <p:nvPr/>
        </p:nvSpPr>
        <p:spPr>
          <a:xfrm>
            <a:off x="3840480" y="24231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cono-16" descr="Icono decorativ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154" y="2554834"/>
            <a:ext cx="285293" cy="285293"/>
          </a:xfrm>
          <a:prstGeom prst="rect">
            <a:avLst/>
          </a:prstGeom>
        </p:spPr>
      </p:pic>
      <p:sp>
        <p:nvSpPr>
          <p:cNvPr id="14" name="texto-17"/>
          <p:cNvSpPr txBox="1"/>
          <p:nvPr/>
        </p:nvSpPr>
        <p:spPr>
          <a:xfrm>
            <a:off x="4572000" y="240487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Por qué lo elijo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 lo que he trabajado en el ciclo: Java, Spring Boot y JavaScript.</a:t>
            </a:r>
            <a:endParaRPr lang="en-US" sz="1600" dirty="0"/>
          </a:p>
        </p:txBody>
      </p:sp>
      <p:sp>
        <p:nvSpPr>
          <p:cNvPr id="15" name="circulo-18"/>
          <p:cNvSpPr/>
          <p:nvPr/>
        </p:nvSpPr>
        <p:spPr>
          <a:xfrm>
            <a:off x="3840480" y="34747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cono-19" descr="Icono decorativ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2154" y="3606394"/>
            <a:ext cx="285293" cy="285293"/>
          </a:xfrm>
          <a:prstGeom prst="rect">
            <a:avLst/>
          </a:prstGeom>
        </p:spPr>
      </p:pic>
      <p:sp>
        <p:nvSpPr>
          <p:cNvPr id="17" name="texto-20"/>
          <p:cNvSpPr txBox="1"/>
          <p:nvPr/>
        </p:nvSpPr>
        <p:spPr>
          <a:xfrm>
            <a:off x="4572000" y="345643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Dónde trabaja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Empresas de software, consultoras, startups y departamentos de TI.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Ficha del puesto</a:t>
            </a:r>
            <a:endParaRPr lang="en-US" sz="3600" dirty="0"/>
          </a:p>
        </p:txBody>
      </p:sp>
      <p:sp>
        <p:nvSpPr>
          <p:cNvPr id="3" name="etiqueta-fase-21"/>
          <p:cNvSpPr txBox="1"/>
          <p:nvPr/>
        </p:nvSpPr>
        <p:spPr>
          <a:xfrm>
            <a:off x="457200" y="274320"/>
            <a:ext cx="3209544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ACTIVIDAD B · DESCRIPCIÓN DEL PUESTO</a:t>
            </a:r>
            <a:endParaRPr lang="en-US" sz="1000" dirty="0"/>
          </a:p>
        </p:txBody>
      </p:sp>
      <p:sp>
        <p:nvSpPr>
          <p:cNvPr id="4" name="tarjeta-22"/>
          <p:cNvSpPr/>
          <p:nvPr/>
        </p:nvSpPr>
        <p:spPr>
          <a:xfrm>
            <a:off x="457200" y="132588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circulo-2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o-24" descr="Icon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18488"/>
            <a:ext cx="237744" cy="237744"/>
          </a:xfrm>
          <a:prstGeom prst="rect">
            <a:avLst/>
          </a:prstGeom>
        </p:spPr>
      </p:pic>
      <p:sp>
        <p:nvSpPr>
          <p:cNvPr id="7" name="texto-25"/>
          <p:cNvSpPr txBox="1"/>
          <p:nvPr/>
        </p:nvSpPr>
        <p:spPr>
          <a:xfrm>
            <a:off x="123444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Funciones</a:t>
            </a:r>
            <a:endParaRPr lang="en-US" sz="1600" dirty="0"/>
          </a:p>
        </p:txBody>
      </p:sp>
      <p:sp>
        <p:nvSpPr>
          <p:cNvPr id="8" name="texto-26"/>
          <p:cNvSpPr txBox="1"/>
          <p:nvPr/>
        </p:nvSpPr>
        <p:spPr>
          <a:xfrm>
            <a:off x="640080" y="20756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Programar y mantener aplicaciones, corregir errores, probar el código y documentarlo.</a:t>
            </a:r>
            <a:endParaRPr lang="en-US" sz="1400" dirty="0"/>
          </a:p>
        </p:txBody>
      </p:sp>
      <p:sp>
        <p:nvSpPr>
          <p:cNvPr id="9" name="tarjeta-27"/>
          <p:cNvSpPr/>
          <p:nvPr/>
        </p:nvSpPr>
        <p:spPr>
          <a:xfrm>
            <a:off x="4663440" y="132588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0" name="circulo-28"/>
          <p:cNvSpPr/>
          <p:nvPr/>
        </p:nvSpPr>
        <p:spPr>
          <a:xfrm>
            <a:off x="4846320" y="15087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o-29" descr="Icono decora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618488"/>
            <a:ext cx="237744" cy="237744"/>
          </a:xfrm>
          <a:prstGeom prst="rect">
            <a:avLst/>
          </a:prstGeom>
        </p:spPr>
      </p:pic>
      <p:sp>
        <p:nvSpPr>
          <p:cNvPr id="12" name="texto-30"/>
          <p:cNvSpPr txBox="1"/>
          <p:nvPr/>
        </p:nvSpPr>
        <p:spPr>
          <a:xfrm>
            <a:off x="544068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Formación</a:t>
            </a:r>
            <a:endParaRPr lang="en-US" sz="1600" dirty="0"/>
          </a:p>
        </p:txBody>
      </p:sp>
      <p:sp>
        <p:nvSpPr>
          <p:cNvPr id="13" name="texto-31"/>
          <p:cNvSpPr txBox="1"/>
          <p:nvPr/>
        </p:nvSpPr>
        <p:spPr>
          <a:xfrm>
            <a:off x="4846320" y="20756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Técnico Superior en DAM (nivel EQF 5) o titulación similar en informática.</a:t>
            </a:r>
            <a:endParaRPr lang="en-US" sz="1400" dirty="0"/>
          </a:p>
        </p:txBody>
      </p:sp>
      <p:sp>
        <p:nvSpPr>
          <p:cNvPr id="14" name="tarjeta-32"/>
          <p:cNvSpPr/>
          <p:nvPr/>
        </p:nvSpPr>
        <p:spPr>
          <a:xfrm>
            <a:off x="457200" y="306324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5" name="circulo-33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cono-34" descr="Icono decorativ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355848"/>
            <a:ext cx="237744" cy="237744"/>
          </a:xfrm>
          <a:prstGeom prst="rect">
            <a:avLst/>
          </a:prstGeom>
        </p:spPr>
      </p:pic>
      <p:sp>
        <p:nvSpPr>
          <p:cNvPr id="17" name="texto-35"/>
          <p:cNvSpPr txBox="1"/>
          <p:nvPr/>
        </p:nvSpPr>
        <p:spPr>
          <a:xfrm>
            <a:off x="123444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Requisitos técnicos</a:t>
            </a:r>
            <a:endParaRPr lang="en-US" sz="1600" dirty="0"/>
          </a:p>
        </p:txBody>
      </p:sp>
      <p:sp>
        <p:nvSpPr>
          <p:cNvPr id="18" name="texto-36"/>
          <p:cNvSpPr txBox="1"/>
          <p:nvPr/>
        </p:nvSpPr>
        <p:spPr>
          <a:xfrm>
            <a:off x="640080" y="38130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Java, Spring Boot, SQL, JavaScript, APIs REST y Git/GitHub.</a:t>
            </a:r>
            <a:endParaRPr lang="en-US" sz="1400" dirty="0"/>
          </a:p>
        </p:txBody>
      </p:sp>
      <p:sp>
        <p:nvSpPr>
          <p:cNvPr id="19" name="tarjeta-37"/>
          <p:cNvSpPr/>
          <p:nvPr/>
        </p:nvSpPr>
        <p:spPr>
          <a:xfrm>
            <a:off x="4663440" y="306324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0" name="circulo-38"/>
          <p:cNvSpPr/>
          <p:nvPr/>
        </p:nvSpPr>
        <p:spPr>
          <a:xfrm>
            <a:off x="4846320" y="3246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cono-39" descr="Icono decorativ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355848"/>
            <a:ext cx="237744" cy="237744"/>
          </a:xfrm>
          <a:prstGeom prst="rect">
            <a:avLst/>
          </a:prstGeom>
        </p:spPr>
      </p:pic>
      <p:sp>
        <p:nvSpPr>
          <p:cNvPr id="22" name="texto-40"/>
          <p:cNvSpPr txBox="1"/>
          <p:nvPr/>
        </p:nvSpPr>
        <p:spPr>
          <a:xfrm>
            <a:off x="544068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Condiciones</a:t>
            </a:r>
            <a:endParaRPr lang="en-US" sz="1600" dirty="0"/>
          </a:p>
        </p:txBody>
      </p:sp>
      <p:sp>
        <p:nvSpPr>
          <p:cNvPr id="23" name="texto-41"/>
          <p:cNvSpPr txBox="1"/>
          <p:nvPr/>
        </p:nvSpPr>
        <p:spPr>
          <a:xfrm>
            <a:off x="4846320" y="38130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Jornada completa, modalidad presencial, híbrida o remota, y trabajo en equipo ágil.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Perfil profesional ideal</a:t>
            </a:r>
            <a:endParaRPr lang="en-US" sz="3600" dirty="0"/>
          </a:p>
        </p:txBody>
      </p:sp>
      <p:sp>
        <p:nvSpPr>
          <p:cNvPr id="3" name="etiqueta-fase-42"/>
          <p:cNvSpPr txBox="1"/>
          <p:nvPr/>
        </p:nvSpPr>
        <p:spPr>
          <a:xfrm>
            <a:off x="457200" y="274320"/>
            <a:ext cx="2510028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ACTIVIDAD C · PROFESIOGRAMA</a:t>
            </a:r>
            <a:endParaRPr lang="en-US" sz="1000" dirty="0"/>
          </a:p>
        </p:txBody>
      </p:sp>
      <p:sp>
        <p:nvSpPr>
          <p:cNvPr id="4" name="tarjeta-43"/>
          <p:cNvSpPr/>
          <p:nvPr/>
        </p:nvSpPr>
        <p:spPr>
          <a:xfrm>
            <a:off x="457200" y="1371600"/>
            <a:ext cx="2560320" cy="26060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5" name="circulo-44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o-45" descr="Icon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64208"/>
            <a:ext cx="237744" cy="237744"/>
          </a:xfrm>
          <a:prstGeom prst="rect">
            <a:avLst/>
          </a:prstGeom>
        </p:spPr>
      </p:pic>
      <p:sp>
        <p:nvSpPr>
          <p:cNvPr id="7" name="texto-46"/>
          <p:cNvSpPr txBox="1"/>
          <p:nvPr/>
        </p:nvSpPr>
        <p:spPr>
          <a:xfrm>
            <a:off x="123444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Conocimientos</a:t>
            </a:r>
            <a:endParaRPr lang="en-US" sz="1600" dirty="0"/>
          </a:p>
        </p:txBody>
      </p:sp>
      <p:sp>
        <p:nvSpPr>
          <p:cNvPr id="8" name="lista-47"/>
          <p:cNvSpPr txBox="1"/>
          <p:nvPr/>
        </p:nvSpPr>
        <p:spPr>
          <a:xfrm>
            <a:off x="640080" y="22402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Java y programación orientada a objetos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Spring Boot y APIs REST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Bases de datos SQL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JavaScript, HTML y CSS</a:t>
            </a:r>
            <a:endParaRPr lang="en-US" sz="1400" dirty="0"/>
          </a:p>
        </p:txBody>
      </p:sp>
      <p:sp>
        <p:nvSpPr>
          <p:cNvPr id="9" name="tarjeta-48"/>
          <p:cNvSpPr/>
          <p:nvPr/>
        </p:nvSpPr>
        <p:spPr>
          <a:xfrm>
            <a:off x="3291840" y="1371600"/>
            <a:ext cx="2560320" cy="26060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0" name="circulo-49"/>
          <p:cNvSpPr/>
          <p:nvPr/>
        </p:nvSpPr>
        <p:spPr>
          <a:xfrm>
            <a:off x="3474720" y="1554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o-50" descr="Icono decora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664208"/>
            <a:ext cx="237744" cy="237744"/>
          </a:xfrm>
          <a:prstGeom prst="rect">
            <a:avLst/>
          </a:prstGeom>
        </p:spPr>
      </p:pic>
      <p:sp>
        <p:nvSpPr>
          <p:cNvPr id="12" name="texto-51"/>
          <p:cNvSpPr txBox="1"/>
          <p:nvPr/>
        </p:nvSpPr>
        <p:spPr>
          <a:xfrm>
            <a:off x="406908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Habilidades</a:t>
            </a:r>
            <a:endParaRPr lang="en-US" sz="1600" dirty="0"/>
          </a:p>
        </p:txBody>
      </p:sp>
      <p:sp>
        <p:nvSpPr>
          <p:cNvPr id="13" name="lista-52"/>
          <p:cNvSpPr txBox="1"/>
          <p:nvPr/>
        </p:nvSpPr>
        <p:spPr>
          <a:xfrm>
            <a:off x="3474720" y="22402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Git y GitHub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Depurar y probar código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Documentar: README y UML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Inglés técnico (B2)</a:t>
            </a:r>
            <a:endParaRPr lang="en-US" sz="1400" dirty="0"/>
          </a:p>
        </p:txBody>
      </p:sp>
      <p:sp>
        <p:nvSpPr>
          <p:cNvPr id="14" name="tarjeta-53"/>
          <p:cNvSpPr/>
          <p:nvPr/>
        </p:nvSpPr>
        <p:spPr>
          <a:xfrm>
            <a:off x="6126480" y="1371600"/>
            <a:ext cx="2560320" cy="26060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5" name="circulo-54"/>
          <p:cNvSpPr/>
          <p:nvPr/>
        </p:nvSpPr>
        <p:spPr>
          <a:xfrm>
            <a:off x="6309360" y="1554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cono-55" descr="Icono decorativ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664208"/>
            <a:ext cx="237744" cy="237744"/>
          </a:xfrm>
          <a:prstGeom prst="rect">
            <a:avLst/>
          </a:prstGeom>
        </p:spPr>
      </p:pic>
      <p:sp>
        <p:nvSpPr>
          <p:cNvPr id="17" name="texto-56"/>
          <p:cNvSpPr txBox="1"/>
          <p:nvPr/>
        </p:nvSpPr>
        <p:spPr>
          <a:xfrm>
            <a:off x="690372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Actitudes</a:t>
            </a:r>
            <a:endParaRPr lang="en-US" sz="1600" dirty="0"/>
          </a:p>
        </p:txBody>
      </p:sp>
      <p:sp>
        <p:nvSpPr>
          <p:cNvPr id="18" name="lista-57"/>
          <p:cNvSpPr txBox="1"/>
          <p:nvPr/>
        </p:nvSpPr>
        <p:spPr>
          <a:xfrm>
            <a:off x="6309360" y="22402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Aprender rápido y adaptarme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Trabajo en equipo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Comunicación clara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Gestión del estrés</a:t>
            </a:r>
            <a:endParaRPr lang="en-US" sz="1400" dirty="0"/>
          </a:p>
        </p:txBody>
      </p:sp>
      <p:sp>
        <p:nvSpPr>
          <p:cNvPr id="19" name="tarjeta-58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/>
        </p:spPr>
      </p:sp>
      <p:sp>
        <p:nvSpPr>
          <p:cNvPr id="20" name="texto-59"/>
          <p:cNvSpPr txBox="1"/>
          <p:nvPr/>
        </p:nvSpPr>
        <p:spPr>
          <a:xfrm>
            <a:off x="685800" y="4114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Mi punto de partida: buena base técnica; me falta experiencia en un entorno real.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Mi análisis DAFO</a:t>
            </a:r>
            <a:endParaRPr lang="en-US" sz="3600" dirty="0"/>
          </a:p>
        </p:txBody>
      </p:sp>
      <p:sp>
        <p:nvSpPr>
          <p:cNvPr id="3" name="etiqueta-fase-60"/>
          <p:cNvSpPr txBox="1"/>
          <p:nvPr/>
        </p:nvSpPr>
        <p:spPr>
          <a:xfrm>
            <a:off x="457200" y="274320"/>
            <a:ext cx="235458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FASE 1 · AUTOCONOCIMIENTO</a:t>
            </a:r>
            <a:endParaRPr lang="en-US" sz="1000" dirty="0"/>
          </a:p>
        </p:txBody>
      </p:sp>
      <p:sp>
        <p:nvSpPr>
          <p:cNvPr id="4" name="tarjeta-61"/>
          <p:cNvSpPr/>
          <p:nvPr/>
        </p:nvSpPr>
        <p:spPr>
          <a:xfrm>
            <a:off x="457200" y="132588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circulo-62"/>
          <p:cNvSpPr/>
          <p:nvPr/>
        </p:nvSpPr>
        <p:spPr>
          <a:xfrm>
            <a:off x="640080" y="148132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o-63"/>
          <p:cNvSpPr txBox="1"/>
          <p:nvPr/>
        </p:nvSpPr>
        <p:spPr>
          <a:xfrm>
            <a:off x="64008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</a:t>
            </a:r>
            <a:endParaRPr lang="en-US" sz="1600" dirty="0"/>
          </a:p>
        </p:txBody>
      </p:sp>
      <p:sp>
        <p:nvSpPr>
          <p:cNvPr id="7" name="texto-64"/>
          <p:cNvSpPr txBox="1"/>
          <p:nvPr/>
        </p:nvSpPr>
        <p:spPr>
          <a:xfrm>
            <a:off x="118872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Fortalezas</a:t>
            </a:r>
            <a:endParaRPr lang="en-US" sz="1600" dirty="0"/>
          </a:p>
        </p:txBody>
      </p:sp>
      <p:sp>
        <p:nvSpPr>
          <p:cNvPr id="8" name="lista-65"/>
          <p:cNvSpPr txBox="1"/>
          <p:nvPr/>
        </p:nvSpPr>
        <p:spPr>
          <a:xfrm>
            <a:off x="640080" y="198424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Aprendo rápido y me adapto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Proyectos con Java y Spring Boot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Trabajo en equipo y puntualidad</a:t>
            </a:r>
            <a:endParaRPr lang="en-US" sz="1400" dirty="0"/>
          </a:p>
        </p:txBody>
      </p:sp>
      <p:sp>
        <p:nvSpPr>
          <p:cNvPr id="9" name="tarjeta-66"/>
          <p:cNvSpPr/>
          <p:nvPr/>
        </p:nvSpPr>
        <p:spPr>
          <a:xfrm>
            <a:off x="4663440" y="132588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0" name="circulo-67"/>
          <p:cNvSpPr/>
          <p:nvPr/>
        </p:nvSpPr>
        <p:spPr>
          <a:xfrm>
            <a:off x="4846320" y="1481328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texto-68"/>
          <p:cNvSpPr txBox="1"/>
          <p:nvPr/>
        </p:nvSpPr>
        <p:spPr>
          <a:xfrm>
            <a:off x="484632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2" name="texto-69"/>
          <p:cNvSpPr txBox="1"/>
          <p:nvPr/>
        </p:nvSpPr>
        <p:spPr>
          <a:xfrm>
            <a:off x="539496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Debilidades</a:t>
            </a:r>
            <a:endParaRPr lang="en-US" sz="1600" dirty="0"/>
          </a:p>
        </p:txBody>
      </p:sp>
      <p:sp>
        <p:nvSpPr>
          <p:cNvPr id="13" name="lista-70"/>
          <p:cNvSpPr txBox="1"/>
          <p:nvPr/>
        </p:nvSpPr>
        <p:spPr>
          <a:xfrm>
            <a:off x="4846320" y="198424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 experiencia laboral previa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Poca práctica en producción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Inglés B2, con margen de mejora</a:t>
            </a:r>
            <a:endParaRPr lang="en-US" sz="1400" dirty="0"/>
          </a:p>
        </p:txBody>
      </p:sp>
      <p:sp>
        <p:nvSpPr>
          <p:cNvPr id="14" name="tarjeta-71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5" name="circulo-72"/>
          <p:cNvSpPr/>
          <p:nvPr/>
        </p:nvSpPr>
        <p:spPr>
          <a:xfrm>
            <a:off x="640080" y="317296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o-73"/>
          <p:cNvSpPr txBox="1"/>
          <p:nvPr/>
        </p:nvSpPr>
        <p:spPr>
          <a:xfrm>
            <a:off x="640080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</a:t>
            </a:r>
            <a:endParaRPr lang="en-US" sz="1600" dirty="0"/>
          </a:p>
        </p:txBody>
      </p:sp>
      <p:sp>
        <p:nvSpPr>
          <p:cNvPr id="17" name="texto-74"/>
          <p:cNvSpPr txBox="1"/>
          <p:nvPr/>
        </p:nvSpPr>
        <p:spPr>
          <a:xfrm>
            <a:off x="1188720" y="31729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Oportunidades</a:t>
            </a:r>
            <a:endParaRPr lang="en-US" sz="1600" dirty="0"/>
          </a:p>
        </p:txBody>
      </p:sp>
      <p:sp>
        <p:nvSpPr>
          <p:cNvPr id="18" name="lista-75"/>
          <p:cNvSpPr txBox="1"/>
          <p:nvPr/>
        </p:nvSpPr>
        <p:spPr>
          <a:xfrm>
            <a:off x="640080" y="367588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Alta demanda de perfiles TI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Prácticas en empresa (FCT)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Portfolio público en GitHub</a:t>
            </a:r>
            <a:endParaRPr lang="en-US" sz="1400" dirty="0"/>
          </a:p>
        </p:txBody>
      </p:sp>
      <p:sp>
        <p:nvSpPr>
          <p:cNvPr id="19" name="tarjeta-76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0" name="circulo-77"/>
          <p:cNvSpPr/>
          <p:nvPr/>
        </p:nvSpPr>
        <p:spPr>
          <a:xfrm>
            <a:off x="4846320" y="3172968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texto-78"/>
          <p:cNvSpPr txBox="1"/>
          <p:nvPr/>
        </p:nvSpPr>
        <p:spPr>
          <a:xfrm>
            <a:off x="4846320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22" name="texto-79"/>
          <p:cNvSpPr txBox="1"/>
          <p:nvPr/>
        </p:nvSpPr>
        <p:spPr>
          <a:xfrm>
            <a:off x="5394960" y="31729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Amenazas</a:t>
            </a:r>
            <a:endParaRPr lang="en-US" sz="1600" dirty="0"/>
          </a:p>
        </p:txBody>
      </p:sp>
      <p:sp>
        <p:nvSpPr>
          <p:cNvPr id="23" name="lista-80"/>
          <p:cNvSpPr txBox="1"/>
          <p:nvPr/>
        </p:nvSpPr>
        <p:spPr>
          <a:xfrm>
            <a:off x="4846320" y="367588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Mucha competencia en nivel junior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Ofertas que piden experiencia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Tecnologías que cambian rápido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Dónde y cómo busco empleo</a:t>
            </a:r>
            <a:endParaRPr lang="en-US" sz="3600" dirty="0"/>
          </a:p>
        </p:txBody>
      </p:sp>
      <p:sp>
        <p:nvSpPr>
          <p:cNvPr id="3" name="etiqueta-fase-81"/>
          <p:cNvSpPr txBox="1"/>
          <p:nvPr/>
        </p:nvSpPr>
        <p:spPr>
          <a:xfrm>
            <a:off x="457200" y="274320"/>
            <a:ext cx="2199132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FASE 2 · PLAN DE ACCIÓN</a:t>
            </a:r>
            <a:endParaRPr lang="en-US" sz="1000" dirty="0"/>
          </a:p>
        </p:txBody>
      </p:sp>
      <p:sp>
        <p:nvSpPr>
          <p:cNvPr id="4" name="tarjeta-82"/>
          <p:cNvSpPr/>
          <p:nvPr/>
        </p:nvSpPr>
        <p:spPr>
          <a:xfrm>
            <a:off x="45720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circulo-83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o-84" descr="Icon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731874"/>
            <a:ext cx="285293" cy="285293"/>
          </a:xfrm>
          <a:prstGeom prst="rect">
            <a:avLst/>
          </a:prstGeom>
        </p:spPr>
      </p:pic>
      <p:sp>
        <p:nvSpPr>
          <p:cNvPr id="7" name="texto-85"/>
          <p:cNvSpPr txBox="1"/>
          <p:nvPr/>
        </p:nvSpPr>
        <p:spPr>
          <a:xfrm>
            <a:off x="640080" y="2286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Portales online</a:t>
            </a:r>
            <a:endParaRPr lang="en-US" sz="1600" dirty="0"/>
          </a:p>
        </p:txBody>
      </p:sp>
      <p:sp>
        <p:nvSpPr>
          <p:cNvPr id="8" name="texto-86"/>
          <p:cNvSpPr txBox="1"/>
          <p:nvPr/>
        </p:nvSpPr>
        <p:spPr>
          <a:xfrm>
            <a:off x="640080" y="26517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LinkedIn, InfoJobs, Indeed y Tecnoempleo, con alertas.</a:t>
            </a:r>
            <a:endParaRPr lang="en-US" sz="1400" dirty="0"/>
          </a:p>
        </p:txBody>
      </p:sp>
      <p:sp>
        <p:nvSpPr>
          <p:cNvPr id="9" name="tarjeta-87"/>
          <p:cNvSpPr/>
          <p:nvPr/>
        </p:nvSpPr>
        <p:spPr>
          <a:xfrm>
            <a:off x="256032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circulo-88"/>
          <p:cNvSpPr/>
          <p:nvPr/>
        </p:nvSpPr>
        <p:spPr>
          <a:xfrm>
            <a:off x="2743200" y="16002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o-89" descr="Icono decora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874" y="1731874"/>
            <a:ext cx="285293" cy="285293"/>
          </a:xfrm>
          <a:prstGeom prst="rect">
            <a:avLst/>
          </a:prstGeom>
        </p:spPr>
      </p:pic>
      <p:sp>
        <p:nvSpPr>
          <p:cNvPr id="12" name="texto-90"/>
          <p:cNvSpPr txBox="1"/>
          <p:nvPr/>
        </p:nvSpPr>
        <p:spPr>
          <a:xfrm>
            <a:off x="2743200" y="2286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Prácticas</a:t>
            </a:r>
            <a:endParaRPr lang="en-US" sz="1600" dirty="0"/>
          </a:p>
        </p:txBody>
      </p:sp>
      <p:sp>
        <p:nvSpPr>
          <p:cNvPr id="13" name="texto-91"/>
          <p:cNvSpPr txBox="1"/>
          <p:nvPr/>
        </p:nvSpPr>
        <p:spPr>
          <a:xfrm>
            <a:off x="2743200" y="26517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 prácticas en empresa (FCT) pueden terminar en contratación.</a:t>
            </a:r>
            <a:endParaRPr lang="en-US" sz="1400" dirty="0"/>
          </a:p>
        </p:txBody>
      </p:sp>
      <p:sp>
        <p:nvSpPr>
          <p:cNvPr id="14" name="tarjeta-92"/>
          <p:cNvSpPr/>
          <p:nvPr/>
        </p:nvSpPr>
        <p:spPr>
          <a:xfrm>
            <a:off x="466344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5" name="circulo-93"/>
          <p:cNvSpPr/>
          <p:nvPr/>
        </p:nvSpPr>
        <p:spPr>
          <a:xfrm>
            <a:off x="4846320" y="16002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cono-94" descr="Icono decorativ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994" y="1731874"/>
            <a:ext cx="285293" cy="285293"/>
          </a:xfrm>
          <a:prstGeom prst="rect">
            <a:avLst/>
          </a:prstGeom>
        </p:spPr>
      </p:pic>
      <p:sp>
        <p:nvSpPr>
          <p:cNvPr id="17" name="texto-95"/>
          <p:cNvSpPr txBox="1"/>
          <p:nvPr/>
        </p:nvSpPr>
        <p:spPr>
          <a:xfrm>
            <a:off x="4846320" y="2286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Contactos</a:t>
            </a:r>
            <a:endParaRPr lang="en-US" sz="1600" dirty="0"/>
          </a:p>
        </p:txBody>
      </p:sp>
      <p:sp>
        <p:nvSpPr>
          <p:cNvPr id="18" name="texto-96"/>
          <p:cNvSpPr txBox="1"/>
          <p:nvPr/>
        </p:nvSpPr>
        <p:spPr>
          <a:xfrm>
            <a:off x="4846320" y="26517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Profesorado, compañeros, eventos tech y candidaturas espontáneas.</a:t>
            </a:r>
            <a:endParaRPr lang="en-US" sz="1400" dirty="0"/>
          </a:p>
        </p:txBody>
      </p:sp>
      <p:sp>
        <p:nvSpPr>
          <p:cNvPr id="19" name="tarjeta-97"/>
          <p:cNvSpPr/>
          <p:nvPr/>
        </p:nvSpPr>
        <p:spPr>
          <a:xfrm>
            <a:off x="676656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0" name="circulo-98"/>
          <p:cNvSpPr/>
          <p:nvPr/>
        </p:nvSpPr>
        <p:spPr>
          <a:xfrm>
            <a:off x="6949440" y="16002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cono-99" descr="Icono decorativ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114" y="1731874"/>
            <a:ext cx="285293" cy="285293"/>
          </a:xfrm>
          <a:prstGeom prst="rect">
            <a:avLst/>
          </a:prstGeom>
        </p:spPr>
      </p:pic>
      <p:sp>
        <p:nvSpPr>
          <p:cNvPr id="22" name="texto-100"/>
          <p:cNvSpPr txBox="1"/>
          <p:nvPr/>
        </p:nvSpPr>
        <p:spPr>
          <a:xfrm>
            <a:off x="6949440" y="2286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Apoyo oficial</a:t>
            </a:r>
            <a:endParaRPr lang="en-US" sz="1600" dirty="0"/>
          </a:p>
        </p:txBody>
      </p:sp>
      <p:sp>
        <p:nvSpPr>
          <p:cNvPr id="23" name="texto-101"/>
          <p:cNvSpPr txBox="1"/>
          <p:nvPr/>
        </p:nvSpPr>
        <p:spPr>
          <a:xfrm>
            <a:off x="6949440" y="26517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Servicio Andaluz de Empleo y Andalucía Orienta.</a:t>
            </a:r>
            <a:endParaRPr lang="en-US" sz="1400" dirty="0"/>
          </a:p>
        </p:txBody>
      </p:sp>
      <p:sp>
        <p:nvSpPr>
          <p:cNvPr id="24" name="tarjeta-102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25" name="icono-103" descr="Icono de bander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60520"/>
            <a:ext cx="274320" cy="274320"/>
          </a:xfrm>
          <a:prstGeom prst="rect">
            <a:avLst/>
          </a:prstGeom>
        </p:spPr>
      </p:pic>
      <p:sp>
        <p:nvSpPr>
          <p:cNvPr id="26" name="texto-104"/>
          <p:cNvSpPr txBox="1"/>
          <p:nvPr/>
        </p:nvSpPr>
        <p:spPr>
          <a:xfrm>
            <a:off x="1188720" y="4023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Meta semanal: 5 candidaturas personalizadas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CV y carta de presentación</a:t>
            </a:r>
            <a:endParaRPr lang="en-US" sz="3600" dirty="0"/>
          </a:p>
        </p:txBody>
      </p:sp>
      <p:sp>
        <p:nvSpPr>
          <p:cNvPr id="3" name="etiqueta-fase-105"/>
          <p:cNvSpPr txBox="1"/>
          <p:nvPr/>
        </p:nvSpPr>
        <p:spPr>
          <a:xfrm>
            <a:off x="457200" y="274320"/>
            <a:ext cx="1888236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FASE 3 · CV Y CARTA</a:t>
            </a:r>
            <a:endParaRPr lang="en-US" sz="1000" dirty="0"/>
          </a:p>
        </p:txBody>
      </p:sp>
      <p:sp>
        <p:nvSpPr>
          <p:cNvPr id="4" name="tarjeta-106"/>
          <p:cNvSpPr/>
          <p:nvPr/>
        </p:nvSpPr>
        <p:spPr>
          <a:xfrm>
            <a:off x="457200" y="1325880"/>
            <a:ext cx="40233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5" name="circulo-107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o-108" descr="Icon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1561795"/>
            <a:ext cx="213970" cy="213970"/>
          </a:xfrm>
          <a:prstGeom prst="rect">
            <a:avLst/>
          </a:prstGeom>
        </p:spPr>
      </p:pic>
      <p:sp>
        <p:nvSpPr>
          <p:cNvPr id="7" name="texto-109"/>
          <p:cNvSpPr txBox="1"/>
          <p:nvPr/>
        </p:nvSpPr>
        <p:spPr>
          <a:xfrm>
            <a:off x="118872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 CV (1 página)</a:t>
            </a:r>
            <a:endParaRPr lang="en-US" sz="1600" dirty="0"/>
          </a:p>
        </p:txBody>
      </p:sp>
      <p:sp>
        <p:nvSpPr>
          <p:cNvPr id="8" name="lista-110"/>
          <p:cNvSpPr txBox="1"/>
          <p:nvPr/>
        </p:nvSpPr>
        <p:spPr>
          <a:xfrm>
            <a:off x="640080" y="19659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Perfil profesional en 3 líneas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Formación: DAM, nivel EQF 5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Skills: Java, JavaScript, Git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Inglés B2 y enlace a GitHub</a:t>
            </a:r>
            <a:endParaRPr lang="en-US" sz="1400" dirty="0"/>
          </a:p>
        </p:txBody>
      </p:sp>
      <p:sp>
        <p:nvSpPr>
          <p:cNvPr id="9" name="tarjeta-111"/>
          <p:cNvSpPr/>
          <p:nvPr/>
        </p:nvSpPr>
        <p:spPr>
          <a:xfrm>
            <a:off x="4663440" y="1325880"/>
            <a:ext cx="40233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0" name="circulo-112"/>
          <p:cNvSpPr/>
          <p:nvPr/>
        </p:nvSpPr>
        <p:spPr>
          <a:xfrm>
            <a:off x="4846320" y="14630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o-113" descr="Icono decora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075" y="1561795"/>
            <a:ext cx="213970" cy="213970"/>
          </a:xfrm>
          <a:prstGeom prst="rect">
            <a:avLst/>
          </a:prstGeom>
        </p:spPr>
      </p:pic>
      <p:sp>
        <p:nvSpPr>
          <p:cNvPr id="12" name="texto-114"/>
          <p:cNvSpPr txBox="1"/>
          <p:nvPr/>
        </p:nvSpPr>
        <p:spPr>
          <a:xfrm>
            <a:off x="539496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Carta de presentación</a:t>
            </a:r>
            <a:endParaRPr lang="en-US" sz="1600" dirty="0"/>
          </a:p>
        </p:txBody>
      </p:sp>
      <p:sp>
        <p:nvSpPr>
          <p:cNvPr id="13" name="lista-115"/>
          <p:cNvSpPr txBox="1"/>
          <p:nvPr/>
        </p:nvSpPr>
        <p:spPr>
          <a:xfrm>
            <a:off x="4846320" y="19659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Una carta distinta por oferta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Por qué esa empresa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Qué aporto: proyectos y actitud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Breve y con datos de contacto</a:t>
            </a:r>
            <a:endParaRPr lang="en-US" sz="1400" dirty="0"/>
          </a:p>
        </p:txBody>
      </p:sp>
      <p:sp>
        <p:nvSpPr>
          <p:cNvPr id="14" name="texto-116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Proyectos que añado al portfolio</a:t>
            </a:r>
            <a:endParaRPr lang="en-US" sz="1600" dirty="0"/>
          </a:p>
        </p:txBody>
      </p:sp>
      <p:sp>
        <p:nvSpPr>
          <p:cNvPr id="15" name="tarjeta-117"/>
          <p:cNvSpPr/>
          <p:nvPr/>
        </p:nvSpPr>
        <p:spPr>
          <a:xfrm>
            <a:off x="457200" y="356616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6" name="circulo-118"/>
          <p:cNvSpPr/>
          <p:nvPr/>
        </p:nvSpPr>
        <p:spPr>
          <a:xfrm>
            <a:off x="640080" y="38221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o-119" descr="Icono de códi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941064"/>
            <a:ext cx="219456" cy="219456"/>
          </a:xfrm>
          <a:prstGeom prst="rect">
            <a:avLst/>
          </a:prstGeom>
        </p:spPr>
      </p:pic>
      <p:sp>
        <p:nvSpPr>
          <p:cNvPr id="18" name="texto-120"/>
          <p:cNvSpPr txBox="1"/>
          <p:nvPr/>
        </p:nvSpPr>
        <p:spPr>
          <a:xfrm>
            <a:off x="1280160" y="3657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Consorcio de Autobuses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Gestión de transporte con Spring Boot y JavaScript.</a:t>
            </a:r>
            <a:endParaRPr lang="en-US" sz="1600" dirty="0"/>
          </a:p>
        </p:txBody>
      </p:sp>
      <p:sp>
        <p:nvSpPr>
          <p:cNvPr id="19" name="tarjeta-121"/>
          <p:cNvSpPr/>
          <p:nvPr/>
        </p:nvSpPr>
        <p:spPr>
          <a:xfrm>
            <a:off x="4663440" y="356616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0" name="circulo-122"/>
          <p:cNvSpPr/>
          <p:nvPr/>
        </p:nvSpPr>
        <p:spPr>
          <a:xfrm>
            <a:off x="4846320" y="38221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o-123" descr="Icono de códi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941064"/>
            <a:ext cx="219456" cy="219456"/>
          </a:xfrm>
          <a:prstGeom prst="rect">
            <a:avLst/>
          </a:prstGeom>
        </p:spPr>
      </p:pic>
      <p:sp>
        <p:nvSpPr>
          <p:cNvPr id="22" name="texto-124"/>
          <p:cNvSpPr txBox="1"/>
          <p:nvPr/>
        </p:nvSpPr>
        <p:spPr>
          <a:xfrm>
            <a:off x="5486400" y="3657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Liberium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 web para prestar y vender libros; TFG en equipo de 3.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Pruebas y entrevistas</a:t>
            </a:r>
            <a:endParaRPr lang="en-US" sz="3600" dirty="0"/>
          </a:p>
        </p:txBody>
      </p:sp>
      <p:sp>
        <p:nvSpPr>
          <p:cNvPr id="3" name="etiqueta-fase-125"/>
          <p:cNvSpPr txBox="1"/>
          <p:nvPr/>
        </p:nvSpPr>
        <p:spPr>
          <a:xfrm>
            <a:off x="457200" y="274320"/>
            <a:ext cx="274320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FASE 4 · PRUEBAS Y ENTREVISTAS</a:t>
            </a:r>
            <a:endParaRPr lang="en-US" sz="1000" dirty="0"/>
          </a:p>
        </p:txBody>
      </p:sp>
      <p:sp>
        <p:nvSpPr>
          <p:cNvPr id="4" name="tarjeta-126"/>
          <p:cNvSpPr/>
          <p:nvPr/>
        </p:nvSpPr>
        <p:spPr>
          <a:xfrm>
            <a:off x="457200" y="1371600"/>
            <a:ext cx="25603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5" name="circulo-127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o-128"/>
          <p:cNvSpPr txBox="1"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o-129"/>
          <p:cNvSpPr txBox="1"/>
          <p:nvPr/>
        </p:nvSpPr>
        <p:spPr>
          <a:xfrm>
            <a:off x="1280160" y="15087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Pruebas psicotécnicas</a:t>
            </a:r>
            <a:endParaRPr lang="en-US" sz="1600" dirty="0"/>
          </a:p>
        </p:txBody>
      </p:sp>
      <p:sp>
        <p:nvSpPr>
          <p:cNvPr id="8" name="texto-130"/>
          <p:cNvSpPr txBox="1"/>
          <p:nvPr/>
        </p:nvSpPr>
        <p:spPr>
          <a:xfrm>
            <a:off x="640080" y="22860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Razonamiento lógico, numérico y personalidad. Practico con tests online.</a:t>
            </a:r>
            <a:endParaRPr lang="en-US" sz="1600" dirty="0"/>
          </a:p>
        </p:txBody>
      </p:sp>
      <p:sp>
        <p:nvSpPr>
          <p:cNvPr id="9" name="tarjeta-131"/>
          <p:cNvSpPr/>
          <p:nvPr/>
        </p:nvSpPr>
        <p:spPr>
          <a:xfrm>
            <a:off x="3291840" y="1371600"/>
            <a:ext cx="25603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10" name="circulo-132"/>
          <p:cNvSpPr/>
          <p:nvPr/>
        </p:nvSpPr>
        <p:spPr>
          <a:xfrm>
            <a:off x="347472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o-133"/>
          <p:cNvSpPr txBox="1"/>
          <p:nvPr/>
        </p:nvSpPr>
        <p:spPr>
          <a:xfrm>
            <a:off x="34747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o-134"/>
          <p:cNvSpPr txBox="1"/>
          <p:nvPr/>
        </p:nvSpPr>
        <p:spPr>
          <a:xfrm>
            <a:off x="4114800" y="15087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Prueba técnica</a:t>
            </a:r>
            <a:endParaRPr lang="en-US" sz="1600" dirty="0"/>
          </a:p>
        </p:txBody>
      </p:sp>
      <p:sp>
        <p:nvSpPr>
          <p:cNvPr id="13" name="texto-135"/>
          <p:cNvSpPr txBox="1"/>
          <p:nvPr/>
        </p:nvSpPr>
        <p:spPr>
          <a:xfrm>
            <a:off x="3474720" y="22860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Ejercicios de Java, SQL y lógica. Repaso mis proyectos y practico retos de código.</a:t>
            </a:r>
            <a:endParaRPr lang="en-US" sz="1600" dirty="0"/>
          </a:p>
        </p:txBody>
      </p:sp>
      <p:sp>
        <p:nvSpPr>
          <p:cNvPr id="14" name="tarjeta-136"/>
          <p:cNvSpPr/>
          <p:nvPr/>
        </p:nvSpPr>
        <p:spPr>
          <a:xfrm>
            <a:off x="6126480" y="1371600"/>
            <a:ext cx="25603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15" name="circulo-137"/>
          <p:cNvSpPr/>
          <p:nvPr/>
        </p:nvSpPr>
        <p:spPr>
          <a:xfrm>
            <a:off x="630936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o-138"/>
          <p:cNvSpPr txBox="1"/>
          <p:nvPr/>
        </p:nvSpPr>
        <p:spPr>
          <a:xfrm>
            <a:off x="63093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o-139"/>
          <p:cNvSpPr txBox="1"/>
          <p:nvPr/>
        </p:nvSpPr>
        <p:spPr>
          <a:xfrm>
            <a:off x="6949440" y="15087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Entrevista</a:t>
            </a:r>
            <a:endParaRPr lang="en-US" sz="1600" dirty="0"/>
          </a:p>
        </p:txBody>
      </p:sp>
      <p:sp>
        <p:nvSpPr>
          <p:cNvPr id="18" name="texto-140"/>
          <p:cNvSpPr txBox="1"/>
          <p:nvPr/>
        </p:nvSpPr>
        <p:spPr>
          <a:xfrm>
            <a:off x="6309360" y="22860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Preguntas de competencias. Respondo con el método STAR: situación, tarea, acción y resultado.</a:t>
            </a:r>
            <a:endParaRPr lang="en-US" sz="1600" dirty="0"/>
          </a:p>
        </p:txBody>
      </p:sp>
      <p:sp>
        <p:nvSpPr>
          <p:cNvPr id="19" name="tarjeta-141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tx2"/>
          </a:solidFill>
          <a:ln/>
        </p:spPr>
      </p:sp>
      <p:sp>
        <p:nvSpPr>
          <p:cNvPr id="20" name="texto-142"/>
          <p:cNvSpPr txBox="1"/>
          <p:nvPr/>
        </p:nvSpPr>
        <p:spPr>
          <a:xfrm>
            <a:off x="685800" y="39776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Cómo me preparo: repasar mis proyectos, preparar preguntas para la empresa y practicar en voz alta.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Fase final y calendario</a:t>
            </a:r>
            <a:endParaRPr lang="en-US" sz="3600" dirty="0"/>
          </a:p>
        </p:txBody>
      </p:sp>
      <p:sp>
        <p:nvSpPr>
          <p:cNvPr id="3" name="etiqueta-fase-143"/>
          <p:cNvSpPr txBox="1"/>
          <p:nvPr/>
        </p:nvSpPr>
        <p:spPr>
          <a:xfrm>
            <a:off x="457200" y="274320"/>
            <a:ext cx="1888236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FASE 5 · FASE FINAL</a:t>
            </a:r>
            <a:endParaRPr lang="en-US" sz="1000" dirty="0"/>
          </a:p>
        </p:txBody>
      </p:sp>
      <p:sp>
        <p:nvSpPr>
          <p:cNvPr id="4" name="tarjeta-144"/>
          <p:cNvSpPr/>
          <p:nvPr/>
        </p:nvSpPr>
        <p:spPr>
          <a:xfrm>
            <a:off x="457200" y="1371600"/>
            <a:ext cx="3840480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5" name="circulo-145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o-146" descr="Icon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675181"/>
            <a:ext cx="261518" cy="261518"/>
          </a:xfrm>
          <a:prstGeom prst="rect">
            <a:avLst/>
          </a:prstGeom>
        </p:spPr>
      </p:pic>
      <p:sp>
        <p:nvSpPr>
          <p:cNvPr id="7" name="texto-147"/>
          <p:cNvSpPr txBox="1"/>
          <p:nvPr/>
        </p:nvSpPr>
        <p:spPr>
          <a:xfrm>
            <a:off x="1280160" y="1554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Cuando llega la oferta</a:t>
            </a:r>
            <a:endParaRPr lang="en-US" sz="1600" dirty="0"/>
          </a:p>
        </p:txBody>
      </p:sp>
      <p:sp>
        <p:nvSpPr>
          <p:cNvPr id="8" name="lista-148"/>
          <p:cNvSpPr txBox="1"/>
          <p:nvPr/>
        </p:nvSpPr>
        <p:spPr>
          <a:xfrm>
            <a:off x="640080" y="228600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Revisar contrato, jornada y funciones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Comparar ofertas y negociar con datos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Confirmar las condiciones por escrito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Pedir feedback si no me eligen</a:t>
            </a:r>
            <a:endParaRPr lang="en-US" sz="1600" dirty="0"/>
          </a:p>
        </p:txBody>
      </p:sp>
      <p:sp>
        <p:nvSpPr>
          <p:cNvPr id="9" name="linea-tiempo-149"/>
          <p:cNvSpPr/>
          <p:nvPr/>
        </p:nvSpPr>
        <p:spPr>
          <a:xfrm>
            <a:off x="4846320" y="1554480"/>
            <a:ext cx="0" cy="24688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0" name="circulo-150"/>
          <p:cNvSpPr/>
          <p:nvPr/>
        </p:nvSpPr>
        <p:spPr>
          <a:xfrm>
            <a:off x="466344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o-151"/>
          <p:cNvSpPr txBox="1"/>
          <p:nvPr/>
        </p:nvSpPr>
        <p:spPr>
          <a:xfrm>
            <a:off x="46634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o-152"/>
          <p:cNvSpPr txBox="1"/>
          <p:nvPr/>
        </p:nvSpPr>
        <p:spPr>
          <a:xfrm>
            <a:off x="5257800" y="139903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Ahora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CV, carta y portfolio en GitHub</a:t>
            </a:r>
            <a:endParaRPr lang="en-US" sz="1400" dirty="0"/>
          </a:p>
        </p:txBody>
      </p:sp>
      <p:sp>
        <p:nvSpPr>
          <p:cNvPr id="13" name="circulo-153"/>
          <p:cNvSpPr/>
          <p:nvPr/>
        </p:nvSpPr>
        <p:spPr>
          <a:xfrm>
            <a:off x="4663440" y="22860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o-154"/>
          <p:cNvSpPr txBox="1"/>
          <p:nvPr/>
        </p:nvSpPr>
        <p:spPr>
          <a:xfrm>
            <a:off x="466344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o-155"/>
          <p:cNvSpPr txBox="1"/>
          <p:nvPr/>
        </p:nvSpPr>
        <p:spPr>
          <a:xfrm>
            <a:off x="5257800" y="222199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Antes de acabar el ciclo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Candidaturas y prácticas (FCT)</a:t>
            </a:r>
            <a:endParaRPr lang="en-US" sz="1400" dirty="0"/>
          </a:p>
        </p:txBody>
      </p:sp>
      <p:sp>
        <p:nvSpPr>
          <p:cNvPr id="16" name="circulo-156"/>
          <p:cNvSpPr/>
          <p:nvPr/>
        </p:nvSpPr>
        <p:spPr>
          <a:xfrm>
            <a:off x="4663440" y="31089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o-157"/>
          <p:cNvSpPr txBox="1"/>
          <p:nvPr/>
        </p:nvSpPr>
        <p:spPr>
          <a:xfrm>
            <a:off x="46634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o-158"/>
          <p:cNvSpPr txBox="1"/>
          <p:nvPr/>
        </p:nvSpPr>
        <p:spPr>
          <a:xfrm>
            <a:off x="5257800" y="304495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 titular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Entrevistas y primera oferta</a:t>
            </a:r>
            <a:endParaRPr lang="en-US" sz="1400" dirty="0"/>
          </a:p>
        </p:txBody>
      </p:sp>
      <p:sp>
        <p:nvSpPr>
          <p:cNvPr id="19" name="circulo-159"/>
          <p:cNvSpPr/>
          <p:nvPr/>
        </p:nvSpPr>
        <p:spPr>
          <a:xfrm>
            <a:off x="4663440" y="39319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o-160"/>
          <p:cNvSpPr txBox="1"/>
          <p:nvPr/>
        </p:nvSpPr>
        <p:spPr>
          <a:xfrm>
            <a:off x="466344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o-161"/>
          <p:cNvSpPr txBox="1"/>
          <p:nvPr/>
        </p:nvSpPr>
        <p:spPr>
          <a:xfrm>
            <a:off x="5257800" y="386791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Después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Formación continua: Spring, SQL y nube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Del aula al primer empleo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945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Formación, proyectos y un plan claro.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Gracias. ¿Preguntas?</a:t>
            </a:r>
            <a:endParaRPr lang="en-US" sz="1600" dirty="0"/>
          </a:p>
        </p:txBody>
      </p:sp>
      <p:sp>
        <p:nvSpPr>
          <p:cNvPr id="4" name="tarjeta-162"/>
          <p:cNvSpPr/>
          <p:nvPr/>
        </p:nvSpPr>
        <p:spPr>
          <a:xfrm>
            <a:off x="5669280" y="914400"/>
            <a:ext cx="3017520" cy="310896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/>
        </p:spPr>
      </p:sp>
      <p:sp>
        <p:nvSpPr>
          <p:cNvPr id="5" name="circulo-163"/>
          <p:cNvSpPr/>
          <p:nvPr/>
        </p:nvSpPr>
        <p:spPr>
          <a:xfrm>
            <a:off x="589788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o-164" descr="Icon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7608" y="1389888"/>
            <a:ext cx="237744" cy="237744"/>
          </a:xfrm>
          <a:prstGeom prst="rect">
            <a:avLst/>
          </a:prstGeom>
        </p:spPr>
      </p:pic>
      <p:sp>
        <p:nvSpPr>
          <p:cNvPr id="7" name="texto-165"/>
          <p:cNvSpPr txBox="1"/>
          <p:nvPr/>
        </p:nvSpPr>
        <p:spPr>
          <a:xfrm>
            <a:off x="6537960" y="1188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Base técnica: Java, Spring Boot y JavaScript</a:t>
            </a:r>
            <a:endParaRPr lang="en-US" sz="1400" dirty="0"/>
          </a:p>
        </p:txBody>
      </p:sp>
      <p:sp>
        <p:nvSpPr>
          <p:cNvPr id="8" name="circulo-166"/>
          <p:cNvSpPr/>
          <p:nvPr/>
        </p:nvSpPr>
        <p:spPr>
          <a:xfrm>
            <a:off x="5897880" y="2194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o-167" descr="Icono decora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304288"/>
            <a:ext cx="237744" cy="237744"/>
          </a:xfrm>
          <a:prstGeom prst="rect">
            <a:avLst/>
          </a:prstGeom>
        </p:spPr>
      </p:pic>
      <p:sp>
        <p:nvSpPr>
          <p:cNvPr id="10" name="texto-168"/>
          <p:cNvSpPr txBox="1"/>
          <p:nvPr/>
        </p:nvSpPr>
        <p:spPr>
          <a:xfrm>
            <a:off x="6537960" y="2103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Proyectos reales para mi portfolio</a:t>
            </a:r>
            <a:endParaRPr lang="en-US" sz="1400" dirty="0"/>
          </a:p>
        </p:txBody>
      </p:sp>
      <p:sp>
        <p:nvSpPr>
          <p:cNvPr id="11" name="circulo-169"/>
          <p:cNvSpPr/>
          <p:nvPr/>
        </p:nvSpPr>
        <p:spPr>
          <a:xfrm>
            <a:off x="5897880" y="3108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o-170" descr="Icono decorativ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608" y="3218688"/>
            <a:ext cx="237744" cy="237744"/>
          </a:xfrm>
          <a:prstGeom prst="rect">
            <a:avLst/>
          </a:prstGeom>
        </p:spPr>
      </p:pic>
      <p:sp>
        <p:nvSpPr>
          <p:cNvPr id="13" name="texto-171"/>
          <p:cNvSpPr txBox="1"/>
          <p:nvPr/>
        </p:nvSpPr>
        <p:spPr>
          <a:xfrm>
            <a:off x="653796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 plan claro para buscar empleo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ja de ruta DAM">
  <a:themeElements>
    <a:clrScheme name="Hoja de ruta DAM">
      <a:dk1>
        <a:srgbClr val="10252B"/>
      </a:dk1>
      <a:lt1>
        <a:srgbClr val="FFFFFF"/>
      </a:lt1>
      <a:dk2>
        <a:srgbClr val="0B4F5C"/>
      </a:dk2>
      <a:lt2>
        <a:srgbClr val="EEF4F4"/>
      </a:lt2>
      <a:accent1>
        <a:srgbClr val="F2A541"/>
      </a:accent1>
      <a:accent2>
        <a:srgbClr val="1B998B"/>
      </a:accent2>
      <a:accent3>
        <a:srgbClr val="0B4F5C"/>
      </a:accent3>
      <a:accent4>
        <a:srgbClr val="E4572E"/>
      </a:accent4>
      <a:accent5>
        <a:srgbClr val="6C8E94"/>
      </a:accent5>
      <a:accent6>
        <a:srgbClr val="C9E4DE"/>
      </a:accent6>
      <a:hlink>
        <a:srgbClr val="1B998B"/>
      </a:hlink>
      <a:folHlink>
        <a:srgbClr val="6C8E94"/>
      </a:folHlink>
    </a:clrScheme>
    <a:fontScheme name="Hoja de ruta DA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 hoja de ruta laboral: desarrollador de software</dc:title>
  <dc:subject>PptxGenJS Presentation</dc:subject>
  <dc:creator>Albert Schmalbach Peña</dc:creator>
  <cp:lastModifiedBy>Albert Schmalbach Peña</cp:lastModifiedBy>
  <cp:revision>1</cp:revision>
  <dcterms:created xsi:type="dcterms:W3CDTF">2026-10-13T12:10:14Z</dcterms:created>
  <dcterms:modified xsi:type="dcterms:W3CDTF">2026-10-13T12:10:14Z</dcterms:modified>
</cp:coreProperties>
</file>